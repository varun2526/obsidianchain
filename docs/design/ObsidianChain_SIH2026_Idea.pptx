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Say the tagline out loud: this is the only entry that can prove its own numbers are not leaking.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Uniqueness, not the feature list. The honesty engine is the differentiator; the network layer is a research bet and is framed that way on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not fourteen boxes. If a judge asks for the full architecture, it is in the repo README - do not put it on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regime-change failure before a judge finds it. Teams that surface their own failure modes are trusted with the rest of their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panel states the network layer as a bet, in writing. That sentence is what stops a judge accusing you of overclaiming.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rupee and dollar figure on this slide needs a dated primary source before you submit. A domain judge from NTRO will know the real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57232" y="182880"/>
            <a:ext cx="212140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310896"/>
            <a:ext cx="1810512" cy="5760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8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777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ObsidianChain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6276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B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Bitcoin forensics that can prove its own numbers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SIH26146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3447288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Cybersecurity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6208776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208776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8970264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970264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8404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0965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Monitoring &amp; Analysis of Bitcoin Transaction Traffic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455371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Technical Research Organisation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5120640"/>
            <a:ext cx="10789920" cy="1051560"/>
          </a:xfrm>
          <a:prstGeom prst="roundRect">
            <a:avLst>
              <a:gd name="adj" fmla="val 5217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" y="5285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" y="5541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enter Team ID ]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023360" y="54406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on Linux  ·  no GPU  ·  no internet  ·  no cloud API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150" dirty="0"/>
          </a:p>
        </p:txBody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82880"/>
            <a:ext cx="1700784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" kern="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 ·  OBSIDIANCHAIN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6455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868680"/>
            <a:ext cx="11430000" cy="749808"/>
          </a:xfrm>
          <a:prstGeom prst="roundRect">
            <a:avLst>
              <a:gd name="adj" fmla="val 7317"/>
            </a:avLst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969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1887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hides identity, not activity. Investigators face millions of un-prioritised transactions — and no way to show why any lead deserves attention.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84048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" y="210312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267712"/>
            <a:ext cx="310896" cy="310896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224942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265176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XML. Schema + canonical-tuple validation. SHA-256 on every source file.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71216" y="210312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35808" y="2267712"/>
            <a:ext cx="310896" cy="310896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3580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3419856" y="224942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3054096" y="265176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Wallets, transactions and network observations joined into one investigation graph.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58384" y="2103120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22976" y="2267712"/>
            <a:ext cx="310896" cy="310896"/>
          </a:xfrm>
          <a:prstGeom prst="ellipse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22976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07024" y="2249424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541264" y="2651760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ranks addresses by risk across 31 as-of-time features.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84048" y="3986784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4151376"/>
            <a:ext cx="310896" cy="310896"/>
          </a:xfrm>
          <a:prstGeom prst="ellipse">
            <a:avLst/>
          </a:prstGeom>
          <a:solidFill>
            <a:srgbClr val="C86A10"/>
          </a:solidFill>
          <a:ln w="12700">
            <a:solidFill>
              <a:srgbClr val="C86A1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32688" y="41330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4535424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per-row TreeSHAP: which features moved this score, and in which direction.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871216" y="3986784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35808" y="4151376"/>
            <a:ext cx="310896" cy="310896"/>
          </a:xfrm>
          <a:prstGeom prst="ellipse">
            <a:avLst/>
          </a:prstGeom>
          <a:solidFill>
            <a:srgbClr val="C86A10"/>
          </a:solidFill>
          <a:ln w="12700">
            <a:solidFill>
              <a:srgbClr val="C86A1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035808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3419856" y="41330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3054096" y="4535424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Graph, timeline, evidence and notes in a single case canvas.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358384" y="3986784"/>
            <a:ext cx="23317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22976" y="4151376"/>
            <a:ext cx="310896" cy="310896"/>
          </a:xfrm>
          <a:prstGeom prst="ellipse">
            <a:avLst/>
          </a:prstGeom>
          <a:solidFill>
            <a:srgbClr val="C86A10"/>
          </a:solidFill>
          <a:ln w="12700">
            <a:solidFill>
              <a:srgbClr val="C86A1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22976" y="4151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5907024" y="413308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5541264" y="4535424"/>
            <a:ext cx="196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to reviewer to archive. Every action audited.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183880" y="2103120"/>
            <a:ext cx="3630168" cy="3621024"/>
          </a:xfrm>
          <a:prstGeom prst="roundRect">
            <a:avLst>
              <a:gd name="adj" fmla="val 1515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412480" y="2340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ourselves.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8412480" y="261518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red-teamed our own pipeline, found 7 leakage defects, withdrew our own published numbers, and now guard each one with a test that fails the build.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841248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holdout opened once.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8412480" y="376732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 42-49 are sealed in code. Opening them required a written decision record. They can never tune anything again.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8412480" y="4645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we verified.</a:t>
            </a:r>
            <a:endParaRPr lang="en-US" sz="1250" dirty="0"/>
          </a:p>
        </p:txBody>
      </p:sp>
      <p:sp>
        <p:nvSpPr>
          <p:cNvPr id="49" name="Text 46"/>
          <p:cNvSpPr txBox="1"/>
          <p:nvPr/>
        </p:nvSpPr>
        <p:spPr>
          <a:xfrm>
            <a:off x="8412480" y="49194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earlier method matched true TreeSHAP direction only 34% of the time. We measured that, rejected it, and replaced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150" dirty="0"/>
          </a:p>
        </p:txBody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82880"/>
            <a:ext cx="1700784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" kern="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6455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2416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4241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5488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12064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 / XML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tuple validation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fingerprint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85416" y="2084832"/>
            <a:ext cx="128016" cy="164592"/>
          </a:xfrm>
          <a:prstGeom prst="rightArrow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31720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90088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008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423160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2459736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TXID / WTXID matching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+ network observations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kept separate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33088" y="2084832"/>
            <a:ext cx="128016" cy="164592"/>
          </a:xfrm>
          <a:prstGeom prst="rightArrow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79392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370832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407408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Common-input Union-Find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origin can veto a merge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when evidence is thin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80760" y="2084832"/>
            <a:ext cx="128016" cy="164592"/>
          </a:xfrm>
          <a:prstGeom prst="rightArrow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27064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85432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8543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318504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as-of-time features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LightGBM, 300 trees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 ms per address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028432" y="2084832"/>
            <a:ext cx="128016" cy="164592"/>
          </a:xfrm>
          <a:prstGeom prst="rightArrow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174736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833104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83310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266176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8302752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Rank-budget severity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TreeSHAP reasons per row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never verdicts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976104" y="2084832"/>
            <a:ext cx="128016" cy="164592"/>
          </a:xfrm>
          <a:prstGeom prst="rightArrow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122408" y="1051560"/>
            <a:ext cx="1783080" cy="2240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780776" y="1207008"/>
            <a:ext cx="457200" cy="457200"/>
          </a:xfrm>
          <a:prstGeom prst="ellipse">
            <a:avLst/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78077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0213848" y="17556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8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250424" y="2084832"/>
            <a:ext cx="152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lifecycle + RBAC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evidence export</a:t>
            </a:r>
            <a:endParaRPr lang="en-US" sz="9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disposition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384048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enforced in code, checked in CI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384048" y="3803904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48640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holdout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16966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 that reaches the sealed period cannot even be constructed.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3300984" y="3803904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65576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contract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3465576" y="416966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as-of-t. A leak breaks the build, not the demo.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217920" y="3803904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382512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attestation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6382512" y="416966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artifact is hash-checked against its registered SHA-256.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134856" y="3803904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99448" y="391363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integrity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9299448" y="416966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evidence and derived output never share a namespace.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84048" y="4956048"/>
            <a:ext cx="11430000" cy="13258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85216" y="5065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every item below is imported in the repository</a:t>
            </a:r>
            <a:endParaRPr lang="en-US" sz="1050" dirty="0"/>
          </a:p>
        </p:txBody>
      </p:sp>
      <p:sp>
        <p:nvSpPr>
          <p:cNvPr id="58" name="Text 55"/>
          <p:cNvSpPr txBox="1"/>
          <p:nvPr/>
        </p:nvSpPr>
        <p:spPr>
          <a:xfrm>
            <a:off x="585216" y="5349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50" dirty="0"/>
          </a:p>
        </p:txBody>
      </p:sp>
      <p:sp>
        <p:nvSpPr>
          <p:cNvPr id="59" name="Text 56"/>
          <p:cNvSpPr txBox="1"/>
          <p:nvPr/>
        </p:nvSpPr>
        <p:spPr>
          <a:xfrm>
            <a:off x="1170432" y="534924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Linux · pandas · NumPy · SciPy · PyArrow / Parquet · Union-Find · joblib</a:t>
            </a:r>
            <a:endParaRPr lang="en-US" sz="1050" dirty="0"/>
          </a:p>
        </p:txBody>
      </p:sp>
      <p:sp>
        <p:nvSpPr>
          <p:cNvPr id="60" name="Text 57"/>
          <p:cNvSpPr txBox="1"/>
          <p:nvPr/>
        </p:nvSpPr>
        <p:spPr>
          <a:xfrm>
            <a:off x="585216" y="5641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50" dirty="0"/>
          </a:p>
        </p:txBody>
      </p:sp>
      <p:sp>
        <p:nvSpPr>
          <p:cNvPr id="61" name="Text 58"/>
          <p:cNvSpPr txBox="1"/>
          <p:nvPr/>
        </p:nvSpPr>
        <p:spPr>
          <a:xfrm>
            <a:off x="1170432" y="56418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LightGBM · exact TreeSHAP (pred_contrib) · rolling-window evaluation protocol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585216" y="5934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1170432" y="593445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Uvicorn · SQLite (RBAC, cases, audit) · React 19 / TypeScript / Vite · Cytoscape.js · Docker · pytest + Vitest · pinned offline wheels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150" dirty="0"/>
          </a:p>
        </p:txBody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82880"/>
            <a:ext cx="1700784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" kern="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6455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868680"/>
            <a:ext cx="2743200" cy="1115568"/>
          </a:xfrm>
          <a:prstGeom prst="roundRect">
            <a:avLst>
              <a:gd name="adj" fmla="val 491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" y="978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0.946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493776" y="14356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a holdout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exactly once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00984" y="868680"/>
            <a:ext cx="2743200" cy="1115568"/>
          </a:xfrm>
          <a:prstGeom prst="roundRect">
            <a:avLst>
              <a:gd name="adj" fmla="val 491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10712" y="978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 ms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3410712" y="14356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score one address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internet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7920" y="868680"/>
            <a:ext cx="2743200" cy="1115568"/>
          </a:xfrm>
          <a:prstGeom prst="roundRect">
            <a:avLst>
              <a:gd name="adj" fmla="val 4918"/>
            </a:avLst>
          </a:prstGeom>
          <a:solidFill>
            <a:srgbClr val="C86A10"/>
          </a:solidFill>
          <a:ln w="12700">
            <a:solidFill>
              <a:srgbClr val="C86A1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7648" y="978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6327648" y="14356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7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defects found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7E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own pipeline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134856" y="868680"/>
            <a:ext cx="2743200" cy="1115568"/>
          </a:xfrm>
          <a:prstGeom prst="roundRect">
            <a:avLst>
              <a:gd name="adj" fmla="val 4918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44584" y="9784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203,769</a:t>
            </a:r>
            <a:endParaRPr lang="en-US" sz="2700" dirty="0"/>
          </a:p>
        </p:txBody>
      </p:sp>
      <p:sp>
        <p:nvSpPr>
          <p:cNvPr id="19" name="Text 16"/>
          <p:cNvSpPr txBox="1"/>
          <p:nvPr/>
        </p:nvSpPr>
        <p:spPr>
          <a:xfrm>
            <a:off x="9244584" y="143560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Elliptic++ transactions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822,942 addresses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2176272"/>
            <a:ext cx="3703320" cy="4069080"/>
          </a:xfrm>
          <a:prstGeom prst="roundRect">
            <a:avLst>
              <a:gd name="adj" fmla="val 1481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" y="23042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" y="2542032"/>
            <a:ext cx="32918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database, auth, casework, graph and analytics integrated and running offline.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chosen, not guessed.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after a 12-fold, Holm-corrected comparison; RF and HistGB were statistically tied.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runs, hash-checked artifacts, 69 test files enforcing it in CI.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licence cost.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stack, local compute, pinned offline wheels.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270248" y="2176272"/>
            <a:ext cx="3703320" cy="19202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471416" y="23042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471416" y="254203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attribution.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NAT, Tor and VPNs mean an IP is where we saw an announcement — never who sent it.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PayJoin.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common-input assumption behind co-spend clustering.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70248" y="4325112"/>
            <a:ext cx="3703320" cy="192024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71416" y="445312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 LIMITS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471416" y="4690872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paired real data exists.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network layer is validated on a synthetic control only. It shows the mechanism, not a result.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change.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known market closure, precision collapses — and input drift monitoring misses it.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56448" y="2176272"/>
            <a:ext cx="3657600" cy="4069080"/>
          </a:xfrm>
          <a:prstGeom prst="roundRect">
            <a:avLst>
              <a:gd name="adj" fmla="val 1500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57616" y="2304288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357616" y="2542032"/>
            <a:ext cx="325526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need.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platforms are cloud-bound and licensed per seat; restricted environments cannot use them.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and air-gapped.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the evidence already sits, with no data leaving the facility.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output.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Hash-fingerprinted evidence, audit trail and human review before any action.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on cost.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prototype. No saving is claimed until measured against a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150" dirty="0"/>
          </a:p>
        </p:txBody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82880"/>
            <a:ext cx="1700784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" kern="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6455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868680"/>
            <a:ext cx="5623560" cy="2423160"/>
          </a:xfrm>
          <a:prstGeom prst="roundRect">
            <a:avLst>
              <a:gd name="adj" fmla="val 2264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99669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23444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triage.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worklist replaces an undifferentiated list of transactions.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alerts, graph, timeline, evidence and reports in a single case canvas.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findings.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review, approve or return — with full audit history.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data lives.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by design, for restricted environments.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0488" y="868680"/>
            <a:ext cx="5623560" cy="2423160"/>
          </a:xfrm>
          <a:prstGeom prst="roundRect">
            <a:avLst>
              <a:gd name="adj" fmla="val 2264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91656" y="99669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91656" y="1234440"/>
            <a:ext cx="5212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switching between scripts, graph tools and reports.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case status and recorded review decisions.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 deployable capability for selected workflows.</a:t>
            </a:r>
            <a:endParaRPr lang="en-US" sz="115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leads. Human review and legal process always follow.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4048" y="3456432"/>
            <a:ext cx="5623560" cy="2788920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584448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FOUNDATION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" y="3822192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clustering.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Meiklejohn (2013) established the heuristics; Harrigan, Möser, Kappos and Müller refined them.</a:t>
            </a:r>
            <a:endParaRPr lang="en-US" sz="10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— our bet.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Neudecker &amp; Hartenstein (2017) proposed network-assisted clustering but never implemented it. We implement it as a veto with explicit abstention — demonstrated on a synthetic control, not yet validated on mainnet.</a:t>
            </a:r>
            <a:endParaRPr lang="en-US" sz="10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&amp; data.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Elliptic, Elliptic++ and BitcoinHeist. MITRE AADAPT (2025) maps peel chains to ADT3028.005.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90488" y="3456432"/>
            <a:ext cx="5623560" cy="2788920"/>
          </a:xfrm>
          <a:prstGeom prst="roundRect">
            <a:avLst>
              <a:gd name="adj" fmla="val 1967"/>
            </a:avLst>
          </a:prstGeom>
          <a:solidFill>
            <a:srgbClr val="FBEEDC"/>
          </a:solidFill>
          <a:ln w="12700">
            <a:solidFill>
              <a:srgbClr val="EBD4B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3584448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C8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3822192"/>
            <a:ext cx="5212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Litecoin, Bitcoin Cash and other UTXO chains reuse the pipeline; only the parser changes.</a:t>
            </a:r>
            <a:endParaRPr lang="en-US" sz="10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collection.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propagation data before an investigation begins, not after.</a:t>
            </a:r>
            <a:endParaRPr lang="en-US" sz="10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plug-in.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KYC and seized-device data enter as pluggable constraints, never as assumptions.</a:t>
            </a:r>
            <a:endParaRPr lang="en-US" sz="105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inference. </a:t>
            </a:r>
            <a:pPr indent="0" marL="0">
              <a:lnSpc>
                <a:spcPct val="104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A4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attribution and transaction origin inferred together — the open research question.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56032"/>
            <a:ext cx="1572768" cy="402336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84048" y="25603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ObsidianChain</a:t>
            </a:r>
            <a:endParaRPr lang="en-US" sz="1150" dirty="0"/>
          </a:p>
        </p:txBody>
      </p:sp>
      <p:pic>
        <p:nvPicPr>
          <p:cNvPr id="4" name="Image 0" descr="si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182880"/>
            <a:ext cx="1700784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0312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60" kern="0" dirty="0">
                <a:solidFill>
                  <a:srgbClr val="0F27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0" y="6455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@SIH Idea submission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292840" y="6455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" y="868680"/>
            <a:ext cx="5623560" cy="2971800"/>
          </a:xfrm>
          <a:prstGeom prst="roundRect">
            <a:avLst>
              <a:gd name="adj" fmla="val 1846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99669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IN INDIA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5216" y="1344168"/>
            <a:ext cx="521208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investment fraud.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attached assets worth ₹489 crore and seized Bitcoin valued at about ₹1,646 crore.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layering.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Cyber-fraud proceeds routed through multiple wallets and converted to USDT abroad (ED, 2025).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WazirX hack (2024).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$230 million in cryptocurrency stolen from an Indian exchange.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GainBitcoin.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 continues to investigate an alleged multi-thousand-crore investment fraud.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4005072"/>
            <a:ext cx="5623560" cy="224028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133088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TECHNOLOGY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" y="4480560"/>
            <a:ext cx="52120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Chainalysis Reactor · TRM Labs · Elliptic · Crystal · Merkle Science — cloud-bound, per-seat, opaque about how a score was reached.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source. </a:t>
            </a:r>
            <a:pPr indent="0" marL="0">
              <a:lnSpc>
                <a:spcPct val="104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GraphSense · BlockSci · bitcoin-etl — data access, but no casework, no review lifecycle, no evidential integrity.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0488" y="868680"/>
            <a:ext cx="5623560" cy="2971800"/>
          </a:xfrm>
          <a:prstGeom prst="roundRect">
            <a:avLst>
              <a:gd name="adj" fmla="val 1846"/>
            </a:avLst>
          </a:prstGeom>
          <a:solidFill>
            <a:srgbClr val="0F27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91656" y="9966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8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TARGET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391656" y="13258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tool combines offline operation, network-layer context, explainable scoring and an auditable review lifecycle in one workflow.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91656" y="2386584"/>
            <a:ext cx="146304" cy="146304"/>
          </a:xfrm>
          <a:prstGeom prst="ellipse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— </a:t>
            </a:r>
            <a:pPr indent="0" marL="0"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never leaves the facility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91656" y="2871216"/>
            <a:ext cx="146304" cy="146304"/>
          </a:xfrm>
          <a:prstGeom prst="ellipse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28163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</a:t>
            </a:r>
            <a:pPr indent="0" marL="0"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per-row feature attribution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91656" y="3355848"/>
            <a:ext cx="146304" cy="146304"/>
          </a:xfrm>
          <a:prstGeom prst="ellipse">
            <a:avLst/>
          </a:prstGeom>
          <a:solidFill>
            <a:srgbClr val="C86A1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75120" y="33009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— </a:t>
            </a:r>
            <a:pPr indent="0" marL="0">
              <a:buNone/>
            </a:pPr>
            <a:r>
              <a:rPr lang="en-US" sz="1200" dirty="0">
                <a:solidFill>
                  <a:srgbClr val="A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score, review and export traced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90488" y="4005072"/>
            <a:ext cx="5623560" cy="2240280"/>
          </a:xfrm>
          <a:prstGeom prst="roundRect">
            <a:avLst>
              <a:gd name="adj" fmla="val 2449"/>
            </a:avLst>
          </a:prstGeom>
          <a:solidFill>
            <a:srgbClr val="F1F5F9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91656" y="4133088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STATUS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391656" y="4480560"/>
            <a:ext cx="52120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clustering, scoring, explanations, graph console, RBAC, audit and evidence export.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12-fold development plus a sealed holdout; every number carries a VALID / WITHDRAWN status.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Open. </a:t>
            </a:r>
            <a:pPr indent="0" marL="0">
              <a:lnSpc>
                <a:spcPct val="104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modes, limitations and withdrawn results are published alongside the results.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" y="63276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D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above are reported from public ED, CBI and exchange disclosures — verify each against its primary source before submission.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ObsidianChain - SIH 2026 PS 26146</dc:title>
  <dc:subject>PptxGenJS Presentation</dc:subject>
  <dc:creator>Team ObsidianChain</dc:creator>
  <cp:lastModifiedBy>Team ObsidianChain</cp:lastModifiedBy>
  <cp:revision>1</cp:revision>
  <dcterms:created xsi:type="dcterms:W3CDTF">2026-09-24T17:06:38Z</dcterms:created>
  <dcterms:modified xsi:type="dcterms:W3CDTF">2026-09-24T17:06:38Z</dcterms:modified>
</cp:coreProperties>
</file>